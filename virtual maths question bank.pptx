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C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74058" y="1980387"/>
            <a:ext cx="3706495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93A2B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3A2B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314575"/>
            <a:ext cx="5286375" cy="3200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4125" y="2314575"/>
            <a:ext cx="5286375" cy="3200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36194"/>
            <a:ext cx="11074400" cy="1212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95854" y="3014218"/>
            <a:ext cx="6400291" cy="1971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93A2B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autobotsege@gmail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arenting-passport.com/wp-content/uploads/2024/07/image-86.webp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50" y="1397253"/>
            <a:ext cx="9182100" cy="406336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74783" y="1613108"/>
            <a:ext cx="7389115" cy="20909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6750" spc="-65" dirty="0"/>
              <a:t>Virtual</a:t>
            </a:r>
            <a:r>
              <a:rPr sz="6750" spc="-400" dirty="0"/>
              <a:t> </a:t>
            </a:r>
            <a:r>
              <a:rPr sz="6750" spc="290" dirty="0"/>
              <a:t>Math</a:t>
            </a:r>
            <a:r>
              <a:rPr lang="tr-TR" sz="6750" spc="290" dirty="0"/>
              <a:t>s </a:t>
            </a:r>
            <a:r>
              <a:rPr lang="tr-TR" sz="6750" spc="290" dirty="0" err="1"/>
              <a:t>Question</a:t>
            </a:r>
            <a:r>
              <a:rPr sz="6750" spc="-400" dirty="0"/>
              <a:t> </a:t>
            </a:r>
            <a:r>
              <a:rPr sz="6750" spc="-20" dirty="0"/>
              <a:t>Bank</a:t>
            </a:r>
            <a:endParaRPr sz="6750" dirty="0"/>
          </a:p>
        </p:txBody>
      </p:sp>
      <p:sp>
        <p:nvSpPr>
          <p:cNvPr id="4" name="object 4"/>
          <p:cNvSpPr txBox="1"/>
          <p:nvPr/>
        </p:nvSpPr>
        <p:spPr>
          <a:xfrm>
            <a:off x="2474783" y="3808973"/>
            <a:ext cx="7242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16C69A"/>
                </a:solidFill>
                <a:latin typeface="Verdana"/>
                <a:cs typeface="Verdana"/>
              </a:rPr>
              <a:t>PERSONALIZED</a:t>
            </a:r>
            <a:r>
              <a:rPr sz="2400" spc="-140" dirty="0">
                <a:solidFill>
                  <a:srgbClr val="16C69A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16C69A"/>
                </a:solidFill>
                <a:latin typeface="Verdana"/>
                <a:cs typeface="Verdana"/>
              </a:rPr>
              <a:t>LEARNING</a:t>
            </a:r>
            <a:r>
              <a:rPr sz="2400" spc="-135" dirty="0">
                <a:solidFill>
                  <a:srgbClr val="16C69A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16C69A"/>
                </a:solidFill>
                <a:latin typeface="Verdana"/>
                <a:cs typeface="Verdana"/>
              </a:rPr>
              <a:t>FOR</a:t>
            </a:r>
            <a:r>
              <a:rPr sz="2400" spc="-135" dirty="0">
                <a:solidFill>
                  <a:srgbClr val="16C69A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16C69A"/>
                </a:solidFill>
                <a:latin typeface="Verdana"/>
                <a:cs typeface="Verdana"/>
              </a:rPr>
              <a:t>MIDDLE</a:t>
            </a:r>
            <a:r>
              <a:rPr sz="2400" spc="-120" dirty="0">
                <a:solidFill>
                  <a:srgbClr val="16C69A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6C69A"/>
                </a:solidFill>
                <a:latin typeface="Verdana"/>
                <a:cs typeface="Verdana"/>
              </a:rPr>
              <a:t>SCHOOL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19621" y="4294563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500" y="0"/>
                </a:moveTo>
                <a:lnTo>
                  <a:pt x="0" y="0"/>
                </a:lnTo>
                <a:lnTo>
                  <a:pt x="0" y="38100"/>
                </a:lnTo>
                <a:lnTo>
                  <a:pt x="952500" y="38100"/>
                </a:lnTo>
                <a:lnTo>
                  <a:pt x="952500" y="0"/>
                </a:lnTo>
                <a:close/>
              </a:path>
            </a:pathLst>
          </a:custGeom>
          <a:solidFill>
            <a:srgbClr val="16C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12567" y="4410583"/>
            <a:ext cx="7166609" cy="83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Group:AUTOBOTS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Berat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KAVRUT</a:t>
            </a:r>
            <a:r>
              <a:rPr sz="1400" spc="3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Bora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PARALI</a:t>
            </a:r>
            <a:r>
              <a:rPr sz="1400" spc="3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Kerem</a:t>
            </a:r>
            <a:r>
              <a:rPr sz="1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YERKAZAN</a:t>
            </a:r>
            <a:r>
              <a:rPr sz="1400" spc="3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Tuna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ÇALISKAN</a:t>
            </a:r>
            <a:r>
              <a:rPr sz="1400" spc="3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Yigit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SHENODZHAK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962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The</a:t>
            </a:r>
            <a:r>
              <a:rPr spc="-235" dirty="0"/>
              <a:t> </a:t>
            </a:r>
            <a:r>
              <a:rPr spc="65" dirty="0"/>
              <a:t>Idea</a:t>
            </a:r>
            <a:r>
              <a:rPr spc="-229" dirty="0"/>
              <a:t> </a:t>
            </a:r>
            <a:r>
              <a:rPr spc="85" dirty="0"/>
              <a:t>and</a:t>
            </a:r>
            <a:r>
              <a:rPr spc="-235" dirty="0"/>
              <a:t> </a:t>
            </a:r>
            <a:r>
              <a:rPr spc="-25" dirty="0">
                <a:solidFill>
                  <a:srgbClr val="16C69A"/>
                </a:solidFill>
              </a:rPr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1771650"/>
            <a:ext cx="5286375" cy="4286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8800" y="2699766"/>
            <a:ext cx="5291455" cy="2352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400" b="1" spc="65" dirty="0">
                <a:solidFill>
                  <a:srgbClr val="FFFFFF"/>
                </a:solidFill>
                <a:latin typeface="Trebuchet MS"/>
                <a:cs typeface="Trebuchet MS"/>
              </a:rPr>
              <a:t>Math</a:t>
            </a:r>
            <a:r>
              <a:rPr sz="14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Trebuchet MS"/>
                <a:cs typeface="Trebuchet MS"/>
              </a:rPr>
              <a:t>should</a:t>
            </a:r>
            <a:r>
              <a:rPr sz="14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sz="14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rebuchet MS"/>
                <a:cs typeface="Trebuchet MS"/>
              </a:rPr>
              <a:t>scary</a:t>
            </a:r>
            <a:endParaRPr sz="1400">
              <a:latin typeface="Trebuchet MS"/>
              <a:cs typeface="Trebuchet MS"/>
            </a:endParaRPr>
          </a:p>
          <a:p>
            <a:pPr marL="12700" marR="141605" algn="just">
              <a:lnSpc>
                <a:spcPct val="140000"/>
              </a:lnSpc>
              <a:spcBef>
                <a:spcPts val="1275"/>
              </a:spcBef>
            </a:pP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Most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middle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school</a:t>
            </a:r>
            <a:r>
              <a:rPr sz="1500" spc="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students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struggle</a:t>
            </a:r>
            <a:r>
              <a:rPr sz="1500" spc="-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with</a:t>
            </a:r>
            <a:r>
              <a:rPr sz="1500" spc="-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math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because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textbooks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are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boring</a:t>
            </a:r>
            <a:r>
              <a:rPr sz="1500" spc="-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and</a:t>
            </a:r>
            <a:r>
              <a:rPr sz="1500" spc="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16C69A"/>
                </a:solidFill>
                <a:latin typeface="Tahoma"/>
                <a:cs typeface="Tahoma"/>
              </a:rPr>
              <a:t>too</a:t>
            </a:r>
            <a:r>
              <a:rPr sz="1500" b="1" spc="-5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16C69A"/>
                </a:solidFill>
                <a:latin typeface="Tahoma"/>
                <a:cs typeface="Tahoma"/>
              </a:rPr>
              <a:t>hard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.</a:t>
            </a:r>
            <a:r>
              <a:rPr sz="1500" spc="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When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 a</a:t>
            </a:r>
            <a:r>
              <a:rPr sz="1500" spc="-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student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fails,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they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lose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confidence.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40100"/>
              </a:lnSpc>
              <a:spcBef>
                <a:spcPts val="240"/>
              </a:spcBef>
            </a:pPr>
            <a:r>
              <a:rPr sz="1500" b="1" spc="-25" dirty="0">
                <a:solidFill>
                  <a:srgbClr val="16C69A"/>
                </a:solidFill>
                <a:latin typeface="Tahoma"/>
                <a:cs typeface="Tahoma"/>
              </a:rPr>
              <a:t>Virtual </a:t>
            </a:r>
            <a:r>
              <a:rPr sz="1500" b="1" spc="-30" dirty="0">
                <a:solidFill>
                  <a:srgbClr val="16C69A"/>
                </a:solidFill>
                <a:latin typeface="Tahoma"/>
                <a:cs typeface="Tahoma"/>
              </a:rPr>
              <a:t>Math</a:t>
            </a:r>
            <a:r>
              <a:rPr sz="1500" b="1" spc="-5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16C69A"/>
                </a:solidFill>
                <a:latin typeface="Tahoma"/>
                <a:cs typeface="Tahoma"/>
              </a:rPr>
              <a:t>Bank</a:t>
            </a:r>
            <a:r>
              <a:rPr sz="1500" b="1" spc="4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is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a</a:t>
            </a:r>
            <a:r>
              <a:rPr sz="1500" spc="-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free</a:t>
            </a:r>
            <a:r>
              <a:rPr sz="1500" spc="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app</a:t>
            </a:r>
            <a:r>
              <a:rPr sz="1500" spc="-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that</a:t>
            </a:r>
            <a:r>
              <a:rPr sz="1500" spc="-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adjusts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the</a:t>
            </a:r>
            <a:r>
              <a:rPr sz="1500" spc="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difficulty</a:t>
            </a:r>
            <a:r>
              <a:rPr sz="1500" spc="50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in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real-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time.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If</a:t>
            </a:r>
            <a:r>
              <a:rPr sz="1500" spc="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you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do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well,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it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gets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harder.</a:t>
            </a:r>
            <a:r>
              <a:rPr sz="1500" spc="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If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you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struggle,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it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helps</a:t>
            </a:r>
            <a:r>
              <a:rPr sz="1500" spc="-6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you</a:t>
            </a:r>
            <a:r>
              <a:rPr sz="1500" spc="-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improve.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2419350"/>
              <a:ext cx="3492373" cy="2990850"/>
            </a:xfrm>
            <a:prstGeom prst="rect">
              <a:avLst/>
            </a:prstGeom>
          </p:spPr>
        </p:pic>
        <p:pic>
          <p:nvPicPr>
            <p:cNvPr id="4" name="object 4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9622" y="2419350"/>
              <a:ext cx="3492500" cy="2990850"/>
            </a:xfrm>
            <a:prstGeom prst="rect">
              <a:avLst/>
            </a:prstGeom>
          </p:spPr>
        </p:pic>
        <p:pic>
          <p:nvPicPr>
            <p:cNvPr id="5" name="object 5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8000" y="2419350"/>
              <a:ext cx="3492373" cy="299085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904359" y="536194"/>
            <a:ext cx="294005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Target</a:t>
            </a:r>
            <a:r>
              <a:rPr spc="-200" dirty="0"/>
              <a:t> </a:t>
            </a:r>
            <a:r>
              <a:rPr spc="-20" dirty="0">
                <a:solidFill>
                  <a:srgbClr val="16C69A"/>
                </a:solidFill>
              </a:rPr>
              <a:t>Users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49553" y="3490721"/>
            <a:ext cx="2695575" cy="147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FFFFF"/>
                </a:solidFill>
                <a:latin typeface="Trebuchet MS"/>
                <a:cs typeface="Trebuchet MS"/>
              </a:rPr>
              <a:t>Students</a:t>
            </a:r>
            <a:endParaRPr sz="2100">
              <a:latin typeface="Trebuchet MS"/>
              <a:cs typeface="Trebuchet MS"/>
            </a:endParaRPr>
          </a:p>
          <a:p>
            <a:pPr marL="12700" marR="5080" algn="just">
              <a:lnSpc>
                <a:spcPct val="140000"/>
              </a:lnSpc>
              <a:spcBef>
                <a:spcPts val="1300"/>
              </a:spcBef>
            </a:pP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Grades</a:t>
            </a:r>
            <a:r>
              <a:rPr sz="1500" spc="-6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5-</a:t>
            </a:r>
            <a:r>
              <a:rPr sz="1500" spc="95" dirty="0">
                <a:solidFill>
                  <a:srgbClr val="93A2B8"/>
                </a:solidFill>
                <a:latin typeface="Tahoma"/>
                <a:cs typeface="Tahoma"/>
              </a:rPr>
              <a:t>8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looking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for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a</a:t>
            </a:r>
            <a:r>
              <a:rPr sz="1500" spc="-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free,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fun</a:t>
            </a:r>
            <a:r>
              <a:rPr sz="1500" spc="-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way</a:t>
            </a:r>
            <a:r>
              <a:rPr sz="1500" spc="-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to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practice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 math</a:t>
            </a:r>
            <a:r>
              <a:rPr sz="1500" spc="-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93A2B8"/>
                </a:solidFill>
                <a:latin typeface="Tahoma"/>
                <a:cs typeface="Tahoma"/>
              </a:rPr>
              <a:t>and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earn</a:t>
            </a:r>
            <a:r>
              <a:rPr sz="1500" spc="-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points.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8209" y="3490721"/>
            <a:ext cx="2618740" cy="147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FFFFF"/>
                </a:solidFill>
                <a:latin typeface="Trebuchet MS"/>
                <a:cs typeface="Trebuchet MS"/>
              </a:rPr>
              <a:t>Teachers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40000"/>
              </a:lnSpc>
              <a:spcBef>
                <a:spcPts val="1300"/>
              </a:spcBef>
            </a:pP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Educators</a:t>
            </a:r>
            <a:r>
              <a:rPr sz="1500" spc="-5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who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need</a:t>
            </a:r>
            <a:r>
              <a:rPr sz="1500" spc="-5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high-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quality,</a:t>
            </a:r>
            <a:r>
              <a:rPr sz="1500" spc="1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free</a:t>
            </a:r>
            <a:r>
              <a:rPr sz="1500" spc="1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digital</a:t>
            </a:r>
            <a:r>
              <a:rPr sz="1500" spc="1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questions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for</a:t>
            </a:r>
            <a:r>
              <a:rPr sz="1500" spc="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their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students.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06714" y="3490721"/>
            <a:ext cx="2358390" cy="147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FFFFF"/>
                </a:solidFill>
                <a:latin typeface="Trebuchet MS"/>
                <a:cs typeface="Trebuchet MS"/>
              </a:rPr>
              <a:t>Parents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40000"/>
              </a:lnSpc>
              <a:spcBef>
                <a:spcPts val="1300"/>
              </a:spcBef>
            </a:pP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Families</a:t>
            </a:r>
            <a:r>
              <a:rPr sz="1500" spc="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who</a:t>
            </a:r>
            <a:r>
              <a:rPr sz="1500" spc="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want</a:t>
            </a:r>
            <a:r>
              <a:rPr sz="1500" spc="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to</a:t>
            </a:r>
            <a:r>
              <a:rPr sz="1500" spc="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help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their</a:t>
            </a:r>
            <a:r>
              <a:rPr sz="1500" spc="8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children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learn</a:t>
            </a:r>
            <a:r>
              <a:rPr sz="1500" spc="10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math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without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expensive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tutors.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62025" y="2857500"/>
            <a:ext cx="7927975" cy="419100"/>
            <a:chOff x="962025" y="2857500"/>
            <a:chExt cx="7927975" cy="419100"/>
          </a:xfrm>
        </p:grpSpPr>
        <p:pic>
          <p:nvPicPr>
            <p:cNvPr id="11" name="object 11" descr="imag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2025" y="2857500"/>
              <a:ext cx="523875" cy="419100"/>
            </a:xfrm>
            <a:prstGeom prst="rect">
              <a:avLst/>
            </a:prstGeom>
          </p:spPr>
        </p:pic>
        <p:pic>
          <p:nvPicPr>
            <p:cNvPr id="12" name="object 12" descr="imag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40147" y="2857500"/>
              <a:ext cx="523875" cy="419100"/>
            </a:xfrm>
            <a:prstGeom prst="rect">
              <a:avLst/>
            </a:prstGeom>
          </p:spPr>
        </p:pic>
        <p:pic>
          <p:nvPicPr>
            <p:cNvPr id="13" name="object 13" descr="image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18525" y="2857500"/>
              <a:ext cx="371475" cy="4191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05605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Main</a:t>
            </a:r>
            <a:r>
              <a:rPr spc="-225" dirty="0"/>
              <a:t> </a:t>
            </a:r>
            <a:r>
              <a:rPr spc="-80" dirty="0">
                <a:solidFill>
                  <a:srgbClr val="16C69A"/>
                </a:solidFill>
              </a:rPr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4477" y="2468626"/>
            <a:ext cx="2343150" cy="150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8105" algn="ctr">
              <a:lnSpc>
                <a:spcPct val="100000"/>
              </a:lnSpc>
              <a:spcBef>
                <a:spcPts val="100"/>
              </a:spcBef>
            </a:pPr>
            <a:r>
              <a:rPr sz="4800" b="1" spc="-50" dirty="0">
                <a:solidFill>
                  <a:srgbClr val="16C69A"/>
                </a:solidFill>
                <a:latin typeface="Tahoma"/>
                <a:cs typeface="Tahoma"/>
              </a:rPr>
              <a:t>3</a:t>
            </a:r>
            <a:endParaRPr sz="4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985"/>
              </a:spcBef>
            </a:pP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Difficulty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Levels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5294" y="2468626"/>
            <a:ext cx="2661285" cy="150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b="1" spc="-465" dirty="0">
                <a:solidFill>
                  <a:srgbClr val="16C69A"/>
                </a:solidFill>
                <a:latin typeface="Tahoma"/>
                <a:cs typeface="Tahoma"/>
              </a:rPr>
              <a:t>10</a:t>
            </a:r>
            <a:endParaRPr sz="48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985"/>
              </a:spcBef>
            </a:pP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Points</a:t>
            </a:r>
            <a:r>
              <a:rPr sz="24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per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Answer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86902" y="2468626"/>
            <a:ext cx="2586990" cy="150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b="1" spc="-20" dirty="0">
                <a:solidFill>
                  <a:srgbClr val="16C69A"/>
                </a:solidFill>
                <a:latin typeface="Tahoma"/>
                <a:cs typeface="Tahoma"/>
              </a:rPr>
              <a:t>FREE</a:t>
            </a:r>
            <a:endParaRPr sz="4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985"/>
              </a:spcBef>
            </a:pP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Zero</a:t>
            </a:r>
            <a:r>
              <a:rPr sz="24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Cost</a:t>
            </a:r>
            <a:r>
              <a:rPr sz="24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8126" y="4547742"/>
            <a:ext cx="8161274" cy="96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7185" marR="5080" indent="-1594485" algn="ctr">
              <a:lnSpc>
                <a:spcPct val="140000"/>
              </a:lnSpc>
              <a:spcBef>
                <a:spcPts val="100"/>
              </a:spcBef>
            </a:pPr>
            <a:r>
              <a:rPr lang="en-US" sz="1500" spc="50" dirty="0">
                <a:solidFill>
                  <a:srgbClr val="93A2B8"/>
                </a:solidFill>
                <a:latin typeface="Tahoma"/>
                <a:cs typeface="Tahoma"/>
              </a:rPr>
              <a:t>Our </a:t>
            </a:r>
            <a:r>
              <a:rPr lang="en-US" sz="1500" b="1" spc="50" dirty="0">
                <a:solidFill>
                  <a:srgbClr val="16C69A"/>
                </a:solidFill>
                <a:latin typeface="Tahoma"/>
                <a:cs typeface="Tahoma"/>
              </a:rPr>
              <a:t>System Logic </a:t>
            </a:r>
            <a:r>
              <a:rPr lang="en-US" sz="1500" spc="50" dirty="0">
                <a:solidFill>
                  <a:srgbClr val="93A2B8"/>
                </a:solidFill>
                <a:latin typeface="Tahoma"/>
                <a:cs typeface="Tahoma"/>
              </a:rPr>
              <a:t>enables a structured learning experience. Students can solve </a:t>
            </a:r>
            <a:endParaRPr lang="tr-TR" sz="1500" spc="50" dirty="0">
              <a:solidFill>
                <a:srgbClr val="93A2B8"/>
              </a:solidFill>
              <a:latin typeface="Tahoma"/>
              <a:cs typeface="Tahoma"/>
            </a:endParaRPr>
          </a:p>
          <a:p>
            <a:pPr marL="1607185" marR="5080" indent="-1594485" algn="ctr">
              <a:lnSpc>
                <a:spcPct val="140000"/>
              </a:lnSpc>
              <a:spcBef>
                <a:spcPts val="100"/>
              </a:spcBef>
            </a:pPr>
            <a:r>
              <a:rPr lang="en-US" sz="1500" spc="50" dirty="0">
                <a:solidFill>
                  <a:srgbClr val="93A2B8"/>
                </a:solidFill>
                <a:latin typeface="Tahoma"/>
                <a:cs typeface="Tahoma"/>
              </a:rPr>
              <a:t>comprehensive question sets while the system records</a:t>
            </a:r>
            <a:r>
              <a:rPr lang="tr-TR" sz="1500" spc="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lang="en-US" sz="1500" spc="50" dirty="0">
                <a:solidFill>
                  <a:srgbClr val="93A2B8"/>
                </a:solidFill>
                <a:latin typeface="Tahoma"/>
                <a:cs typeface="Tahoma"/>
              </a:rPr>
              <a:t>performance</a:t>
            </a:r>
            <a:r>
              <a:rPr lang="tr-TR" sz="1500" spc="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</a:p>
          <a:p>
            <a:pPr marL="1607185" marR="5080" indent="-1594485" algn="ctr">
              <a:lnSpc>
                <a:spcPct val="140000"/>
              </a:lnSpc>
              <a:spcBef>
                <a:spcPts val="100"/>
              </a:spcBef>
            </a:pPr>
            <a:r>
              <a:rPr lang="en-US" sz="1500" spc="50" dirty="0">
                <a:solidFill>
                  <a:srgbClr val="93A2B8"/>
                </a:solidFill>
                <a:latin typeface="Tahoma"/>
                <a:cs typeface="Tahoma"/>
              </a:rPr>
              <a:t>data for final session reports.</a:t>
            </a:r>
            <a:endParaRPr lang="en-US" sz="1500" dirty="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381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00" dirty="0"/>
              <a:t> </a:t>
            </a:r>
            <a:r>
              <a:rPr spc="-120" dirty="0"/>
              <a:t>is</a:t>
            </a:r>
            <a:r>
              <a:rPr spc="-190" dirty="0"/>
              <a:t> </a:t>
            </a:r>
            <a:r>
              <a:rPr spc="-180" dirty="0"/>
              <a:t>in</a:t>
            </a:r>
            <a:r>
              <a:rPr spc="-195" dirty="0"/>
              <a:t> </a:t>
            </a:r>
            <a:r>
              <a:rPr spc="130" dirty="0">
                <a:solidFill>
                  <a:srgbClr val="16C69A"/>
                </a:solidFill>
              </a:rPr>
              <a:t>Scope</a:t>
            </a:r>
            <a:r>
              <a:rPr spc="130" dirty="0"/>
              <a:t>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255" y="2319527"/>
            <a:ext cx="11138916" cy="323240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66737" y="2339276"/>
          <a:ext cx="11047730" cy="314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2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650" b="1" spc="-10" dirty="0">
                          <a:solidFill>
                            <a:srgbClr val="010517"/>
                          </a:solidFill>
                          <a:latin typeface="Tahoma"/>
                          <a:cs typeface="Tahoma"/>
                        </a:rPr>
                        <a:t>Category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497CB9"/>
                      </a:solidFill>
                      <a:prstDash val="solid"/>
                    </a:lnL>
                    <a:lnT w="9525">
                      <a:solidFill>
                        <a:srgbClr val="497CB9"/>
                      </a:solidFill>
                      <a:prstDash val="solid"/>
                    </a:lnT>
                    <a:solidFill>
                      <a:srgbClr val="16C69A"/>
                    </a:solidFill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650" b="1" spc="-45" dirty="0">
                          <a:solidFill>
                            <a:srgbClr val="010517"/>
                          </a:solidFill>
                          <a:latin typeface="Tahoma"/>
                          <a:cs typeface="Tahoma"/>
                        </a:rPr>
                        <a:t>Included</a:t>
                      </a:r>
                      <a:r>
                        <a:rPr sz="1650" b="1" spc="-50" dirty="0">
                          <a:solidFill>
                            <a:srgbClr val="010517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b="1" spc="-114" dirty="0">
                          <a:solidFill>
                            <a:srgbClr val="010517"/>
                          </a:solidFill>
                          <a:latin typeface="Tahoma"/>
                          <a:cs typeface="Tahoma"/>
                        </a:rPr>
                        <a:t>(In-</a:t>
                      </a:r>
                      <a:r>
                        <a:rPr sz="1650" b="1" spc="-10" dirty="0">
                          <a:solidFill>
                            <a:srgbClr val="010517"/>
                          </a:solidFill>
                          <a:latin typeface="Tahoma"/>
                          <a:cs typeface="Tahoma"/>
                        </a:rPr>
                        <a:t>Scope)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T="175895" marB="0">
                    <a:lnT w="9525">
                      <a:solidFill>
                        <a:srgbClr val="497CB9"/>
                      </a:solidFill>
                      <a:prstDash val="solid"/>
                    </a:lnT>
                    <a:solidFill>
                      <a:srgbClr val="16C69A"/>
                    </a:solidFill>
                  </a:tcPr>
                </a:tc>
                <a:tc>
                  <a:txBody>
                    <a:bodyPr/>
                    <a:lstStyle/>
                    <a:p>
                      <a:pPr marL="81534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650" b="1" spc="-35" dirty="0">
                          <a:solidFill>
                            <a:srgbClr val="010517"/>
                          </a:solidFill>
                          <a:latin typeface="Tahoma"/>
                          <a:cs typeface="Tahoma"/>
                        </a:rPr>
                        <a:t>Future</a:t>
                      </a:r>
                      <a:r>
                        <a:rPr sz="1650" b="1" spc="40" dirty="0">
                          <a:solidFill>
                            <a:srgbClr val="010517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b="1" spc="-45" dirty="0">
                          <a:solidFill>
                            <a:srgbClr val="010517"/>
                          </a:solidFill>
                          <a:latin typeface="Tahoma"/>
                          <a:cs typeface="Tahoma"/>
                        </a:rPr>
                        <a:t>(Out-</a:t>
                      </a:r>
                      <a:r>
                        <a:rPr sz="1650" b="1" dirty="0">
                          <a:solidFill>
                            <a:srgbClr val="010517"/>
                          </a:solidFill>
                          <a:latin typeface="Tahoma"/>
                          <a:cs typeface="Tahoma"/>
                        </a:rPr>
                        <a:t>of-</a:t>
                      </a:r>
                      <a:r>
                        <a:rPr sz="1650" b="1" spc="-10" dirty="0">
                          <a:solidFill>
                            <a:srgbClr val="010517"/>
                          </a:solidFill>
                          <a:latin typeface="Tahoma"/>
                          <a:cs typeface="Tahoma"/>
                        </a:rPr>
                        <a:t>Scope)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T="175895" marB="0">
                    <a:lnR w="9525">
                      <a:solidFill>
                        <a:srgbClr val="497CB9"/>
                      </a:solidFill>
                      <a:prstDash val="solid"/>
                    </a:lnR>
                    <a:lnT w="9525">
                      <a:solidFill>
                        <a:srgbClr val="497CB9"/>
                      </a:solidFill>
                      <a:prstDash val="solid"/>
                    </a:lnT>
                    <a:solidFill>
                      <a:srgbClr val="16C6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500" b="1" spc="-1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Curriculum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89865" marB="0">
                    <a:lnL w="9525">
                      <a:solidFill>
                        <a:srgbClr val="497CB9"/>
                      </a:solidFill>
                      <a:prstDash val="solid"/>
                    </a:lnL>
                    <a:lnB w="9525">
                      <a:solidFill>
                        <a:srgbClr val="1E29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500" spc="8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Middle</a:t>
                      </a:r>
                      <a:r>
                        <a:rPr sz="1500" spc="-7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8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School</a:t>
                      </a:r>
                      <a:r>
                        <a:rPr sz="1500" spc="-1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Math</a:t>
                      </a:r>
                      <a:r>
                        <a:rPr sz="1500" spc="-5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(Grades</a:t>
                      </a:r>
                      <a:r>
                        <a:rPr sz="1500" spc="-4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9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5-</a:t>
                      </a:r>
                      <a:r>
                        <a:rPr sz="1500" spc="-2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8)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89865" marB="0">
                    <a:lnB w="9525">
                      <a:solidFill>
                        <a:srgbClr val="1E29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534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500" spc="6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High</a:t>
                      </a:r>
                      <a:r>
                        <a:rPr sz="1500" spc="-5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8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School</a:t>
                      </a:r>
                      <a:r>
                        <a:rPr sz="1500" spc="-3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&amp;</a:t>
                      </a:r>
                      <a:r>
                        <a:rPr sz="1500" spc="-5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University</a:t>
                      </a:r>
                      <a:r>
                        <a:rPr sz="1500" spc="-7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Level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89865" marB="0">
                    <a:lnR w="9525">
                      <a:solidFill>
                        <a:srgbClr val="497CB9"/>
                      </a:solidFill>
                      <a:prstDash val="solid"/>
                    </a:lnR>
                    <a:lnB w="9525">
                      <a:solidFill>
                        <a:srgbClr val="1E29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500" b="1" spc="-1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Questions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497CB9"/>
                      </a:solidFill>
                      <a:prstDash val="solid"/>
                    </a:lnL>
                    <a:lnT w="9525">
                      <a:solidFill>
                        <a:srgbClr val="1E293A"/>
                      </a:solidFill>
                      <a:prstDash val="solid"/>
                    </a:lnT>
                    <a:lnB w="9525">
                      <a:solidFill>
                        <a:srgbClr val="1E29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500" spc="6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Adaptive</a:t>
                      </a:r>
                      <a:r>
                        <a:rPr sz="1500" spc="-5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5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Difficulty</a:t>
                      </a:r>
                      <a:r>
                        <a:rPr sz="150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62560" marB="0">
                    <a:lnT w="9525">
                      <a:solidFill>
                        <a:srgbClr val="1E293A"/>
                      </a:solidFill>
                      <a:prstDash val="solid"/>
                    </a:lnT>
                    <a:lnB w="9525">
                      <a:solidFill>
                        <a:srgbClr val="1E29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534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500" spc="7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Video</a:t>
                      </a:r>
                      <a:r>
                        <a:rPr sz="1500" spc="-4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7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Lectures</a:t>
                      </a:r>
                      <a:r>
                        <a:rPr sz="1500" spc="-4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5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sz="1500" spc="-4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4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Tutors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62560" marB="0">
                    <a:lnR w="9525">
                      <a:solidFill>
                        <a:srgbClr val="497CB9"/>
                      </a:solidFill>
                      <a:prstDash val="solid"/>
                    </a:lnR>
                    <a:lnT w="9525">
                      <a:solidFill>
                        <a:srgbClr val="1E293A"/>
                      </a:solidFill>
                      <a:prstDash val="solid"/>
                    </a:lnT>
                    <a:lnB w="9525">
                      <a:solidFill>
                        <a:srgbClr val="1E29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500" b="1" spc="-1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Platform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497CB9"/>
                      </a:solidFill>
                      <a:prstDash val="solid"/>
                    </a:lnL>
                    <a:lnT w="9525">
                      <a:solidFill>
                        <a:srgbClr val="1E293A"/>
                      </a:solidFill>
                      <a:prstDash val="solid"/>
                    </a:lnT>
                    <a:lnB w="9525">
                      <a:solidFill>
                        <a:srgbClr val="1E29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500" spc="10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Web-</a:t>
                      </a:r>
                      <a:r>
                        <a:rPr sz="1500" spc="8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sz="1500" spc="-6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7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Mobile</a:t>
                      </a:r>
                      <a:r>
                        <a:rPr sz="1500" spc="-3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5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Application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71450" marB="0">
                    <a:lnT w="9525">
                      <a:solidFill>
                        <a:srgbClr val="1E293A"/>
                      </a:solidFill>
                      <a:prstDash val="solid"/>
                    </a:lnT>
                    <a:lnB w="9525">
                      <a:solidFill>
                        <a:srgbClr val="1E29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53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500" spc="4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Printed</a:t>
                      </a:r>
                      <a:r>
                        <a:rPr sz="1500" spc="-4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Question</a:t>
                      </a:r>
                      <a:r>
                        <a:rPr sz="1500" spc="-3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Books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71450" marB="0">
                    <a:lnR w="9525">
                      <a:solidFill>
                        <a:srgbClr val="497CB9"/>
                      </a:solidFill>
                      <a:prstDash val="solid"/>
                    </a:lnR>
                    <a:lnT w="9525">
                      <a:solidFill>
                        <a:srgbClr val="1E293A"/>
                      </a:solidFill>
                      <a:prstDash val="solid"/>
                    </a:lnT>
                    <a:lnB w="9525">
                      <a:solidFill>
                        <a:srgbClr val="1E29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b="1" spc="-1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Gamification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80975" marB="0">
                    <a:lnL w="9525">
                      <a:solidFill>
                        <a:srgbClr val="497CB9"/>
                      </a:solidFill>
                      <a:prstDash val="solid"/>
                    </a:lnL>
                    <a:lnT w="9525">
                      <a:solidFill>
                        <a:srgbClr val="1E293A"/>
                      </a:solidFill>
                      <a:prstDash val="solid"/>
                    </a:lnT>
                    <a:lnB w="9525">
                      <a:solidFill>
                        <a:srgbClr val="497CB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7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Scoring</a:t>
                      </a:r>
                      <a:r>
                        <a:rPr sz="150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6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00" spc="-3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7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Progress</a:t>
                      </a:r>
                      <a:r>
                        <a:rPr sz="1500" spc="-4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50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Tracking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80975" marB="0">
                    <a:lnT w="9525">
                      <a:solidFill>
                        <a:srgbClr val="1E293A"/>
                      </a:solidFill>
                      <a:prstDash val="solid"/>
                    </a:lnT>
                    <a:lnB w="9525">
                      <a:solidFill>
                        <a:srgbClr val="497CB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534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5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Real-</a:t>
                      </a:r>
                      <a:r>
                        <a:rPr sz="1500" spc="6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money</a:t>
                      </a:r>
                      <a:r>
                        <a:rPr sz="1500" spc="-2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00" spc="55" dirty="0">
                          <a:solidFill>
                            <a:srgbClr val="93A2B8"/>
                          </a:solidFill>
                          <a:latin typeface="Tahoma"/>
                          <a:cs typeface="Tahoma"/>
                        </a:rPr>
                        <a:t>Rewards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180975" marB="0">
                    <a:lnR w="9525">
                      <a:solidFill>
                        <a:srgbClr val="497CB9"/>
                      </a:solidFill>
                      <a:prstDash val="solid"/>
                    </a:lnR>
                    <a:lnT w="9525">
                      <a:solidFill>
                        <a:srgbClr val="1E293A"/>
                      </a:solidFill>
                      <a:prstDash val="solid"/>
                    </a:lnT>
                    <a:lnB w="9525">
                      <a:solidFill>
                        <a:srgbClr val="497CB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0"/>
            <a:ext cx="12192000" cy="685802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8800" y="1484121"/>
            <a:ext cx="268287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Project</a:t>
            </a:r>
            <a:r>
              <a:rPr spc="-180" dirty="0"/>
              <a:t> </a:t>
            </a:r>
            <a:r>
              <a:rPr spc="-30" dirty="0">
                <a:solidFill>
                  <a:srgbClr val="16C69A"/>
                </a:solidFill>
              </a:rPr>
              <a:t>Plan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800" y="2279980"/>
            <a:ext cx="4794250" cy="274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1400" b="1" spc="-110" dirty="0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r>
              <a:rPr sz="1400" b="1" spc="-11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Week</a:t>
            </a:r>
            <a:r>
              <a:rPr sz="140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Roadmap</a:t>
            </a:r>
            <a:endParaRPr sz="1400" dirty="0">
              <a:latin typeface="Trebuchet MS"/>
              <a:cs typeface="Trebuchet MS"/>
            </a:endParaRPr>
          </a:p>
          <a:p>
            <a:pPr marL="12700" marR="5080">
              <a:lnSpc>
                <a:spcPct val="140000"/>
              </a:lnSpc>
              <a:spcBef>
                <a:spcPts val="1280"/>
              </a:spcBef>
            </a:pPr>
            <a:r>
              <a:rPr sz="1500" spc="105" dirty="0">
                <a:solidFill>
                  <a:srgbClr val="93A2B8"/>
                </a:solidFill>
                <a:latin typeface="Tahoma"/>
                <a:cs typeface="Tahoma"/>
              </a:rPr>
              <a:t>We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followed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93A2B8"/>
                </a:solidFill>
                <a:latin typeface="Tahoma"/>
                <a:cs typeface="Tahoma"/>
              </a:rPr>
              <a:t>a</a:t>
            </a:r>
            <a:r>
              <a:rPr sz="1500" spc="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93A2B8"/>
                </a:solidFill>
                <a:latin typeface="Tahoma"/>
                <a:cs typeface="Tahoma"/>
              </a:rPr>
              <a:t>structured</a:t>
            </a:r>
            <a:r>
              <a:rPr sz="1500" spc="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93A2B8"/>
                </a:solidFill>
                <a:latin typeface="Tahoma"/>
                <a:cs typeface="Tahoma"/>
              </a:rPr>
              <a:t>path</a:t>
            </a:r>
            <a:r>
              <a:rPr sz="1500" spc="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from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93A2B8"/>
                </a:solidFill>
                <a:latin typeface="Tahoma"/>
                <a:cs typeface="Tahoma"/>
              </a:rPr>
              <a:t>early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research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to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final</a:t>
            </a:r>
            <a:r>
              <a:rPr sz="1500" spc="1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testing.</a:t>
            </a: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500" dirty="0">
              <a:latin typeface="Tahoma"/>
              <a:cs typeface="Tahoma"/>
            </a:endParaRPr>
          </a:p>
          <a:p>
            <a:pPr marL="346075" marR="1919605">
              <a:lnSpc>
                <a:spcPct val="200100"/>
              </a:lnSpc>
              <a:spcBef>
                <a:spcPts val="5"/>
              </a:spcBef>
            </a:pPr>
            <a:r>
              <a:rPr sz="1500" spc="95" dirty="0">
                <a:solidFill>
                  <a:srgbClr val="93A2B8"/>
                </a:solidFill>
                <a:latin typeface="Tahoma"/>
                <a:cs typeface="Tahoma"/>
              </a:rPr>
              <a:t>Weeks</a:t>
            </a:r>
            <a:r>
              <a:rPr sz="1500" spc="-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93A2B8"/>
                </a:solidFill>
                <a:latin typeface="Tahoma"/>
                <a:cs typeface="Tahoma"/>
              </a:rPr>
              <a:t>1-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3: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System</a:t>
            </a:r>
            <a:r>
              <a:rPr sz="1500" spc="-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Design </a:t>
            </a:r>
            <a:r>
              <a:rPr sz="1500" spc="95" dirty="0">
                <a:solidFill>
                  <a:srgbClr val="93A2B8"/>
                </a:solidFill>
                <a:latin typeface="Tahoma"/>
                <a:cs typeface="Tahoma"/>
              </a:rPr>
              <a:t>Weeks</a:t>
            </a:r>
            <a:r>
              <a:rPr sz="1500" spc="-6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110" dirty="0">
                <a:solidFill>
                  <a:srgbClr val="93A2B8"/>
                </a:solidFill>
                <a:latin typeface="Tahoma"/>
                <a:cs typeface="Tahoma"/>
              </a:rPr>
              <a:t>3-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7:</a:t>
            </a:r>
            <a:r>
              <a:rPr sz="1500" spc="-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95" dirty="0">
                <a:solidFill>
                  <a:srgbClr val="93A2B8"/>
                </a:solidFill>
                <a:latin typeface="Tahoma"/>
                <a:cs typeface="Tahoma"/>
              </a:rPr>
              <a:t>Core</a:t>
            </a:r>
            <a:r>
              <a:rPr sz="1500" spc="-5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Coding </a:t>
            </a:r>
            <a:r>
              <a:rPr sz="1500" spc="95" dirty="0">
                <a:solidFill>
                  <a:srgbClr val="93A2B8"/>
                </a:solidFill>
                <a:latin typeface="Tahoma"/>
                <a:cs typeface="Tahoma"/>
              </a:rPr>
              <a:t>Weeks</a:t>
            </a:r>
            <a:r>
              <a:rPr sz="1500" spc="-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7-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9:</a:t>
            </a:r>
            <a:r>
              <a:rPr sz="1500" spc="-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Testing</a:t>
            </a:r>
            <a:r>
              <a:rPr sz="1500" spc="-6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&amp;</a:t>
            </a:r>
            <a:r>
              <a:rPr sz="1500" spc="-6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93A2B8"/>
                </a:solidFill>
                <a:latin typeface="Tahoma"/>
                <a:cs typeface="Tahoma"/>
              </a:rPr>
              <a:t>Demo</a:t>
            </a:r>
            <a:endParaRPr sz="1500" dirty="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1500" y="179603"/>
            <a:ext cx="11555094" cy="6445237"/>
            <a:chOff x="571500" y="179603"/>
            <a:chExt cx="11555094" cy="6445237"/>
          </a:xfrm>
        </p:grpSpPr>
        <p:pic>
          <p:nvPicPr>
            <p:cNvPr id="6" name="object 6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3895725"/>
              <a:ext cx="171450" cy="123825"/>
            </a:xfrm>
            <a:prstGeom prst="rect">
              <a:avLst/>
            </a:prstGeom>
          </p:spPr>
        </p:pic>
        <p:pic>
          <p:nvPicPr>
            <p:cNvPr id="7" name="object 7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4352925"/>
              <a:ext cx="171450" cy="123825"/>
            </a:xfrm>
            <a:prstGeom prst="rect">
              <a:avLst/>
            </a:prstGeom>
          </p:spPr>
        </p:pic>
        <p:pic>
          <p:nvPicPr>
            <p:cNvPr id="8" name="object 8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4810125"/>
              <a:ext cx="171450" cy="123825"/>
            </a:xfrm>
            <a:prstGeom prst="rect">
              <a:avLst/>
            </a:prstGeom>
          </p:spPr>
        </p:pic>
        <p:pic>
          <p:nvPicPr>
            <p:cNvPr id="9" name="object 9" descr="imag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3242" y="179603"/>
              <a:ext cx="6753352" cy="644523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618121"/>
              <a:ext cx="6600952" cy="535444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962399" y="-336648"/>
            <a:ext cx="4445000" cy="1211613"/>
          </a:xfrm>
          <a:prstGeom prst="rect">
            <a:avLst/>
          </a:prstGeom>
        </p:spPr>
        <p:txBody>
          <a:bodyPr vert="horz" wrap="square" lIns="0" tIns="605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Use</a:t>
            </a:r>
            <a:r>
              <a:rPr spc="-254" dirty="0"/>
              <a:t> </a:t>
            </a:r>
            <a:r>
              <a:rPr spc="145" dirty="0"/>
              <a:t>Case</a:t>
            </a:r>
            <a:r>
              <a:rPr spc="-245" dirty="0"/>
              <a:t> </a:t>
            </a:r>
            <a:r>
              <a:rPr spc="95" dirty="0">
                <a:solidFill>
                  <a:srgbClr val="16C69A"/>
                </a:solidFill>
              </a:rPr>
              <a:t>Diagram</a:t>
            </a:r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1A5EA745-90C6-2D21-F5A1-31A7B493F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652" y="1211613"/>
            <a:ext cx="9558493" cy="51738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8800" y="304799"/>
            <a:ext cx="11074400" cy="121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Activity</a:t>
            </a:r>
            <a:r>
              <a:rPr spc="-225" dirty="0"/>
              <a:t> </a:t>
            </a:r>
            <a:r>
              <a:rPr spc="95" dirty="0">
                <a:solidFill>
                  <a:srgbClr val="16C69A"/>
                </a:solidFill>
              </a:rPr>
              <a:t>Diagram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C0AAE534-7C9B-6579-F420-764B5E7D7D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1066800"/>
            <a:ext cx="10267950" cy="56007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9265" y="1600200"/>
            <a:ext cx="3329304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Class</a:t>
            </a:r>
            <a:r>
              <a:rPr spc="-210" dirty="0"/>
              <a:t> </a:t>
            </a:r>
            <a:r>
              <a:rPr spc="95" dirty="0">
                <a:solidFill>
                  <a:srgbClr val="16C69A"/>
                </a:solidFill>
              </a:rPr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2620796"/>
            <a:ext cx="4477284" cy="11673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OOP</a:t>
            </a:r>
            <a:r>
              <a:rPr sz="1400" b="1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Architecture</a:t>
            </a:r>
            <a:endParaRPr sz="1400" dirty="0">
              <a:latin typeface="Trebuchet MS"/>
              <a:cs typeface="Trebuchet MS"/>
            </a:endParaRPr>
          </a:p>
          <a:p>
            <a:pPr marL="12700" marR="5080">
              <a:lnSpc>
                <a:spcPct val="140000"/>
              </a:lnSpc>
              <a:spcBef>
                <a:spcPts val="1275"/>
              </a:spcBef>
            </a:pP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The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backbone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of</a:t>
            </a:r>
            <a:r>
              <a:rPr sz="1500" spc="-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our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software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is</a:t>
            </a:r>
            <a:r>
              <a:rPr sz="1500" spc="-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built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on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clear</a:t>
            </a:r>
            <a:r>
              <a:rPr sz="1500" spc="-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endParaRPr lang="tr-TR" sz="1500" spc="-5" dirty="0">
              <a:solidFill>
                <a:srgbClr val="93A2B8"/>
              </a:solidFill>
              <a:latin typeface="Tahoma"/>
              <a:cs typeface="Tahoma"/>
            </a:endParaRPr>
          </a:p>
          <a:p>
            <a:pPr marL="12700" marR="5080">
              <a:lnSpc>
                <a:spcPct val="140000"/>
              </a:lnSpc>
              <a:spcBef>
                <a:spcPts val="1275"/>
              </a:spcBef>
            </a:pP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object-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oriented</a:t>
            </a:r>
            <a:r>
              <a:rPr lang="tr-TR" sz="1500" spc="3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principles.</a:t>
            </a:r>
            <a:endParaRPr lang="tr-TR" sz="1500" spc="45" dirty="0">
              <a:latin typeface="Tahoma"/>
              <a:cs typeface="Tahoma"/>
            </a:endParaRPr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6F5FA035-0D5C-4D36-A5CB-DD9BB0A00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884" y="100426"/>
            <a:ext cx="6963146" cy="66571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2419350"/>
              <a:ext cx="3492373" cy="2990850"/>
            </a:xfrm>
            <a:prstGeom prst="rect">
              <a:avLst/>
            </a:prstGeom>
          </p:spPr>
        </p:pic>
        <p:pic>
          <p:nvPicPr>
            <p:cNvPr id="4" name="object 4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9622" y="2419350"/>
              <a:ext cx="3492500" cy="2990850"/>
            </a:xfrm>
            <a:prstGeom prst="rect">
              <a:avLst/>
            </a:prstGeom>
          </p:spPr>
        </p:pic>
        <p:pic>
          <p:nvPicPr>
            <p:cNvPr id="5" name="object 5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8000" y="2419350"/>
              <a:ext cx="3492373" cy="299085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9654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Adaptive</a:t>
            </a:r>
            <a:r>
              <a:rPr spc="-254" dirty="0"/>
              <a:t> </a:t>
            </a:r>
            <a:r>
              <a:rPr spc="-10" dirty="0">
                <a:solidFill>
                  <a:srgbClr val="16C69A"/>
                </a:solidFill>
              </a:rPr>
              <a:t>Workflow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49553" y="3490721"/>
            <a:ext cx="2308860" cy="1151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420" dirty="0">
                <a:solidFill>
                  <a:srgbClr val="FFFFFF"/>
                </a:solidFill>
                <a:latin typeface="Trebuchet MS"/>
                <a:cs typeface="Trebuchet MS"/>
              </a:rPr>
              <a:t>1.</a:t>
            </a:r>
            <a:r>
              <a:rPr sz="2100" b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55" dirty="0">
                <a:solidFill>
                  <a:srgbClr val="FFFFFF"/>
                </a:solidFill>
                <a:latin typeface="Trebuchet MS"/>
                <a:cs typeface="Trebuchet MS"/>
              </a:rPr>
              <a:t>Difficulty</a:t>
            </a:r>
            <a:r>
              <a:rPr sz="2100" b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Trebuchet MS"/>
                <a:cs typeface="Trebuchet MS"/>
              </a:rPr>
              <a:t>Level</a:t>
            </a:r>
            <a:endParaRPr sz="2100">
              <a:latin typeface="Trebuchet MS"/>
              <a:cs typeface="Trebuchet MS"/>
            </a:endParaRPr>
          </a:p>
          <a:p>
            <a:pPr marL="12700" marR="5715">
              <a:lnSpc>
                <a:spcPct val="140000"/>
              </a:lnSpc>
              <a:spcBef>
                <a:spcPts val="1300"/>
              </a:spcBef>
            </a:pPr>
            <a:r>
              <a:rPr sz="1500" spc="85" dirty="0">
                <a:solidFill>
                  <a:srgbClr val="93A2B8"/>
                </a:solidFill>
                <a:latin typeface="Tahoma"/>
                <a:cs typeface="Tahoma"/>
              </a:rPr>
              <a:t>User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have</a:t>
            </a:r>
            <a:r>
              <a:rPr sz="1500" spc="-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to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choose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93A2B8"/>
                </a:solidFill>
                <a:latin typeface="Tahoma"/>
                <a:cs typeface="Tahoma"/>
              </a:rPr>
              <a:t>a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difficulty</a:t>
            </a:r>
            <a:r>
              <a:rPr sz="1500" spc="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level</a:t>
            </a:r>
            <a:r>
              <a:rPr sz="1500" spc="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to</a:t>
            </a:r>
            <a:r>
              <a:rPr sz="1500" spc="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start</a:t>
            </a:r>
            <a:r>
              <a:rPr sz="1500" spc="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up.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8209" y="3490721"/>
            <a:ext cx="2587625" cy="147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70" dirty="0">
                <a:solidFill>
                  <a:srgbClr val="FFFFFF"/>
                </a:solidFill>
                <a:latin typeface="Trebuchet MS"/>
                <a:cs typeface="Trebuchet MS"/>
              </a:rPr>
              <a:t>2.</a:t>
            </a:r>
            <a:r>
              <a:rPr sz="21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FFFFFF"/>
                </a:solidFill>
                <a:latin typeface="Trebuchet MS"/>
                <a:cs typeface="Trebuchet MS"/>
              </a:rPr>
              <a:t>Solving</a:t>
            </a:r>
            <a:r>
              <a:rPr sz="2100" b="1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20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40000"/>
              </a:lnSpc>
              <a:spcBef>
                <a:spcPts val="1300"/>
              </a:spcBef>
            </a:pPr>
            <a:r>
              <a:rPr sz="1500" spc="95" dirty="0">
                <a:solidFill>
                  <a:srgbClr val="93A2B8"/>
                </a:solidFill>
                <a:latin typeface="Tahoma"/>
                <a:cs typeface="Tahoma"/>
              </a:rPr>
              <a:t>Users</a:t>
            </a:r>
            <a:r>
              <a:rPr sz="1500" spc="-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who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chose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a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difficulty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level</a:t>
            </a:r>
            <a:r>
              <a:rPr sz="1500" spc="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will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start</a:t>
            </a:r>
            <a:r>
              <a:rPr sz="1500" spc="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to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solving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the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test.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06714" y="3490721"/>
            <a:ext cx="2301875" cy="147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95" dirty="0">
                <a:solidFill>
                  <a:srgbClr val="FFFFFF"/>
                </a:solidFill>
                <a:latin typeface="Trebuchet MS"/>
                <a:cs typeface="Trebuchet MS"/>
              </a:rPr>
              <a:t>3.Test</a:t>
            </a:r>
            <a:r>
              <a:rPr sz="21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Trebuchet MS"/>
                <a:cs typeface="Trebuchet MS"/>
              </a:rPr>
              <a:t>Results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40000"/>
              </a:lnSpc>
              <a:spcBef>
                <a:spcPts val="1300"/>
              </a:spcBef>
            </a:pP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After</a:t>
            </a:r>
            <a:r>
              <a:rPr sz="1500" spc="10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93A2B8"/>
                </a:solidFill>
                <a:latin typeface="Tahoma"/>
                <a:cs typeface="Tahoma"/>
              </a:rPr>
              <a:t>finishing</a:t>
            </a:r>
            <a:r>
              <a:rPr sz="1500" spc="1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93A2B8"/>
                </a:solidFill>
                <a:latin typeface="Tahoma"/>
                <a:cs typeface="Tahoma"/>
              </a:rPr>
              <a:t>their</a:t>
            </a:r>
            <a:r>
              <a:rPr sz="1500" spc="1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test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questions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users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 will</a:t>
            </a:r>
            <a:r>
              <a:rPr sz="1500" spc="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get</a:t>
            </a:r>
            <a:r>
              <a:rPr sz="1500" spc="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93A2B8"/>
                </a:solidFill>
                <a:latin typeface="Tahoma"/>
                <a:cs typeface="Tahoma"/>
              </a:rPr>
              <a:t>a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final</a:t>
            </a:r>
            <a:r>
              <a:rPr sz="1500" spc="1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point.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62025" y="2857500"/>
            <a:ext cx="8032750" cy="419100"/>
            <a:chOff x="962025" y="2857500"/>
            <a:chExt cx="8032750" cy="419100"/>
          </a:xfrm>
        </p:grpSpPr>
        <p:pic>
          <p:nvPicPr>
            <p:cNvPr id="11" name="object 11" descr="imag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2025" y="2857500"/>
              <a:ext cx="314325" cy="419100"/>
            </a:xfrm>
            <a:prstGeom prst="rect">
              <a:avLst/>
            </a:prstGeom>
          </p:spPr>
        </p:pic>
        <p:pic>
          <p:nvPicPr>
            <p:cNvPr id="12" name="object 12" descr="imag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40147" y="2857500"/>
              <a:ext cx="371475" cy="419100"/>
            </a:xfrm>
            <a:prstGeom prst="rect">
              <a:avLst/>
            </a:prstGeom>
          </p:spPr>
        </p:pic>
        <p:pic>
          <p:nvPicPr>
            <p:cNvPr id="13" name="object 13" descr="image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18525" y="2857500"/>
              <a:ext cx="476250" cy="4191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4242752" y="2488565"/>
            <a:ext cx="37064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90" dirty="0"/>
              <a:t>Live</a:t>
            </a:r>
            <a:r>
              <a:rPr sz="6000" spc="-360" dirty="0"/>
              <a:t> </a:t>
            </a:r>
            <a:r>
              <a:rPr sz="6000" spc="-20" dirty="0"/>
              <a:t>Demo</a:t>
            </a:r>
            <a:endParaRPr sz="6000" dirty="0"/>
          </a:p>
        </p:txBody>
      </p:sp>
      <p:sp>
        <p:nvSpPr>
          <p:cNvPr id="4" name="object 4"/>
          <p:cNvSpPr txBox="1"/>
          <p:nvPr/>
        </p:nvSpPr>
        <p:spPr>
          <a:xfrm>
            <a:off x="2666999" y="3733800"/>
            <a:ext cx="685800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0" dirty="0">
                <a:solidFill>
                  <a:srgbClr val="16C69A"/>
                </a:solidFill>
                <a:latin typeface="Tahoma"/>
                <a:cs typeface="Tahoma"/>
              </a:rPr>
              <a:t>Experience</a:t>
            </a:r>
            <a:r>
              <a:rPr sz="2100" spc="-2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16C69A"/>
                </a:solidFill>
                <a:latin typeface="Tahoma"/>
                <a:cs typeface="Tahoma"/>
              </a:rPr>
              <a:t>the</a:t>
            </a:r>
            <a:r>
              <a:rPr sz="2100" spc="-2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2100" spc="50" dirty="0">
                <a:solidFill>
                  <a:srgbClr val="16C69A"/>
                </a:solidFill>
                <a:latin typeface="Tahoma"/>
                <a:cs typeface="Tahoma"/>
              </a:rPr>
              <a:t>Virtual</a:t>
            </a:r>
            <a:r>
              <a:rPr sz="2100" spc="-1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2100" spc="95" dirty="0">
                <a:solidFill>
                  <a:srgbClr val="16C69A"/>
                </a:solidFill>
                <a:latin typeface="Tahoma"/>
                <a:cs typeface="Tahoma"/>
              </a:rPr>
              <a:t>Math</a:t>
            </a:r>
            <a:r>
              <a:rPr lang="tr-TR" sz="2100" spc="95" dirty="0">
                <a:solidFill>
                  <a:srgbClr val="16C69A"/>
                </a:solidFill>
                <a:latin typeface="Tahoma"/>
                <a:cs typeface="Tahoma"/>
              </a:rPr>
              <a:t>s </a:t>
            </a:r>
            <a:r>
              <a:rPr lang="tr-TR" sz="2100" spc="95" dirty="0" err="1">
                <a:solidFill>
                  <a:srgbClr val="16C69A"/>
                </a:solidFill>
                <a:latin typeface="Tahoma"/>
                <a:cs typeface="Tahoma"/>
              </a:rPr>
              <a:t>Question</a:t>
            </a:r>
            <a:r>
              <a:rPr sz="2100" spc="-2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2100" spc="85" dirty="0">
                <a:solidFill>
                  <a:srgbClr val="16C69A"/>
                </a:solidFill>
                <a:latin typeface="Tahoma"/>
                <a:cs typeface="Tahoma"/>
              </a:rPr>
              <a:t>Bank</a:t>
            </a:r>
            <a:r>
              <a:rPr sz="2100" spc="-2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16C69A"/>
                </a:solidFill>
                <a:latin typeface="Tahoma"/>
                <a:cs typeface="Tahoma"/>
              </a:rPr>
              <a:t>in</a:t>
            </a:r>
            <a:r>
              <a:rPr sz="2100" spc="-2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2100" spc="60" dirty="0">
                <a:solidFill>
                  <a:srgbClr val="16C69A"/>
                </a:solidFill>
                <a:latin typeface="Tahoma"/>
                <a:cs typeface="Tahoma"/>
              </a:rPr>
              <a:t>action</a:t>
            </a:r>
            <a:r>
              <a:rPr lang="tr-TR" sz="2100" spc="60" dirty="0">
                <a:solidFill>
                  <a:srgbClr val="16C69A"/>
                </a:solidFill>
                <a:latin typeface="Tahoma"/>
                <a:cs typeface="Tahoma"/>
              </a:rPr>
              <a:t>.</a:t>
            </a:r>
            <a:endParaRPr sz="2100" dirty="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70959" y="536194"/>
            <a:ext cx="400685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170" dirty="0"/>
              <a:t> </a:t>
            </a:r>
            <a:r>
              <a:rPr spc="85" dirty="0"/>
              <a:t>and</a:t>
            </a:r>
            <a:r>
              <a:rPr spc="-190" dirty="0"/>
              <a:t> </a:t>
            </a:r>
            <a:r>
              <a:rPr spc="-165" dirty="0">
                <a:solidFill>
                  <a:srgbClr val="16C69A"/>
                </a:solidFill>
              </a:rPr>
              <a:t>Future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9553" y="2680842"/>
            <a:ext cx="4498975" cy="2461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100" b="1" spc="-45" dirty="0">
                <a:solidFill>
                  <a:srgbClr val="FFFFFF"/>
                </a:solidFill>
                <a:latin typeface="Trebuchet MS"/>
                <a:cs typeface="Trebuchet MS"/>
              </a:rPr>
              <a:t>Current</a:t>
            </a:r>
            <a:r>
              <a:rPr sz="210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Trebuchet MS"/>
                <a:cs typeface="Trebuchet MS"/>
              </a:rPr>
              <a:t>Status</a:t>
            </a:r>
            <a:endParaRPr sz="2100">
              <a:latin typeface="Trebuchet MS"/>
              <a:cs typeface="Trebuchet MS"/>
            </a:endParaRPr>
          </a:p>
          <a:p>
            <a:pPr marL="12700" marR="351155" algn="just">
              <a:lnSpc>
                <a:spcPct val="140000"/>
              </a:lnSpc>
              <a:spcBef>
                <a:spcPts val="1300"/>
              </a:spcBef>
            </a:pPr>
            <a:r>
              <a:rPr sz="1500" b="1" spc="-50" dirty="0">
                <a:solidFill>
                  <a:srgbClr val="16C69A"/>
                </a:solidFill>
                <a:latin typeface="Tahoma"/>
                <a:cs typeface="Tahoma"/>
              </a:rPr>
              <a:t>Beta</a:t>
            </a:r>
            <a:r>
              <a:rPr sz="1500" b="1" spc="-6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16C69A"/>
                </a:solidFill>
                <a:latin typeface="Tahoma"/>
                <a:cs typeface="Tahoma"/>
              </a:rPr>
              <a:t>1.0:</a:t>
            </a:r>
            <a:r>
              <a:rPr sz="1500" b="1" spc="-1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All</a:t>
            </a:r>
            <a:r>
              <a:rPr sz="1500" spc="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math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categories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for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middle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grade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students</a:t>
            </a:r>
            <a:r>
              <a:rPr sz="1500" spc="-6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are</a:t>
            </a:r>
            <a:r>
              <a:rPr sz="1500" spc="-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ready.</a:t>
            </a:r>
            <a:r>
              <a:rPr sz="1500" spc="-6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Also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teachers</a:t>
            </a:r>
            <a:r>
              <a:rPr sz="1500" spc="-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can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upload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question</a:t>
            </a:r>
            <a:r>
              <a:rPr sz="1500" spc="-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for</a:t>
            </a:r>
            <a:r>
              <a:rPr sz="1500" spc="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their</a:t>
            </a:r>
            <a:r>
              <a:rPr sz="1500" spc="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students.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40100"/>
              </a:lnSpc>
              <a:spcBef>
                <a:spcPts val="240"/>
              </a:spcBef>
            </a:pPr>
            <a:r>
              <a:rPr sz="1500" b="1" spc="-35" dirty="0">
                <a:solidFill>
                  <a:srgbClr val="16C69A"/>
                </a:solidFill>
                <a:latin typeface="Tahoma"/>
                <a:cs typeface="Tahoma"/>
              </a:rPr>
              <a:t>Limitations:</a:t>
            </a:r>
            <a:r>
              <a:rPr sz="1500" b="1" spc="6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Currently</a:t>
            </a:r>
            <a:r>
              <a:rPr sz="1500" spc="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needs</a:t>
            </a:r>
            <a:r>
              <a:rPr sz="1500" spc="-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internet</a:t>
            </a:r>
            <a:r>
              <a:rPr sz="1500" spc="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to</a:t>
            </a:r>
            <a:r>
              <a:rPr sz="1500" spc="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load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questions.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Every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people</a:t>
            </a:r>
            <a:r>
              <a:rPr sz="1500" spc="-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who</a:t>
            </a:r>
            <a:r>
              <a:rPr sz="1500" spc="-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is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using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this</a:t>
            </a:r>
            <a:r>
              <a:rPr sz="1500" spc="-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website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must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sign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in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before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starting</a:t>
            </a:r>
            <a:r>
              <a:rPr sz="1500" spc="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to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93A2B8"/>
                </a:solidFill>
                <a:latin typeface="Tahoma"/>
                <a:cs typeface="Tahoma"/>
              </a:rPr>
              <a:t>use.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80707" y="2572892"/>
            <a:ext cx="4431665" cy="284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0" dirty="0">
                <a:solidFill>
                  <a:srgbClr val="FFFFFF"/>
                </a:solidFill>
                <a:latin typeface="Trebuchet MS"/>
                <a:cs typeface="Trebuchet MS"/>
              </a:rPr>
              <a:t>Next</a:t>
            </a:r>
            <a:r>
              <a:rPr sz="21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Trebuchet MS"/>
                <a:cs typeface="Trebuchet MS"/>
              </a:rPr>
              <a:t>Steps</a:t>
            </a:r>
            <a:endParaRPr sz="2100">
              <a:latin typeface="Trebuchet MS"/>
              <a:cs typeface="Trebuchet MS"/>
            </a:endParaRPr>
          </a:p>
          <a:p>
            <a:pPr marL="44450" marR="167005" indent="187325" algn="just">
              <a:lnSpc>
                <a:spcPct val="140000"/>
              </a:lnSpc>
              <a:spcBef>
                <a:spcPts val="990"/>
              </a:spcBef>
              <a:buClr>
                <a:srgbClr val="93A2B8"/>
              </a:buClr>
              <a:buFont typeface="Tahoma"/>
              <a:buAutoNum type="arabicPeriod"/>
              <a:tabLst>
                <a:tab pos="231775" algn="l"/>
              </a:tabLst>
            </a:pPr>
            <a:r>
              <a:rPr sz="1500" b="1" spc="-10" dirty="0">
                <a:solidFill>
                  <a:srgbClr val="16C69A"/>
                </a:solidFill>
                <a:latin typeface="Tahoma"/>
                <a:cs typeface="Tahoma"/>
              </a:rPr>
              <a:t>Offline</a:t>
            </a:r>
            <a:r>
              <a:rPr sz="1500" b="1" spc="-8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16C69A"/>
                </a:solidFill>
                <a:latin typeface="Tahoma"/>
                <a:cs typeface="Tahoma"/>
              </a:rPr>
              <a:t>Mode:</a:t>
            </a:r>
            <a:r>
              <a:rPr sz="1500" b="1" spc="-2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Download</a:t>
            </a:r>
            <a:r>
              <a:rPr sz="1500" spc="-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questions</a:t>
            </a:r>
            <a:r>
              <a:rPr sz="1500" spc="-7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for</a:t>
            </a:r>
            <a:r>
              <a:rPr sz="1500" spc="-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93A2B8"/>
                </a:solidFill>
                <a:latin typeface="Tahoma"/>
                <a:cs typeface="Tahoma"/>
              </a:rPr>
              <a:t>home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study.</a:t>
            </a:r>
            <a:endParaRPr sz="1500">
              <a:latin typeface="Tahoma"/>
              <a:cs typeface="Tahoma"/>
            </a:endParaRPr>
          </a:p>
          <a:p>
            <a:pPr marL="44450" marR="72390" indent="225425" algn="just">
              <a:lnSpc>
                <a:spcPct val="140000"/>
              </a:lnSpc>
              <a:spcBef>
                <a:spcPts val="525"/>
              </a:spcBef>
              <a:buClr>
                <a:srgbClr val="93A2B8"/>
              </a:buClr>
              <a:buFont typeface="Tahoma"/>
              <a:buAutoNum type="arabicPeriod"/>
              <a:tabLst>
                <a:tab pos="269875" algn="l"/>
              </a:tabLst>
            </a:pPr>
            <a:r>
              <a:rPr sz="1500" b="1" spc="-25" dirty="0">
                <a:solidFill>
                  <a:srgbClr val="16C69A"/>
                </a:solidFill>
                <a:latin typeface="Tahoma"/>
                <a:cs typeface="Tahoma"/>
              </a:rPr>
              <a:t>Leaderboard:</a:t>
            </a:r>
            <a:r>
              <a:rPr sz="1500" b="1" spc="1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Compete</a:t>
            </a:r>
            <a:r>
              <a:rPr sz="1500" spc="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with</a:t>
            </a:r>
            <a:r>
              <a:rPr sz="1500" spc="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your</a:t>
            </a:r>
            <a:r>
              <a:rPr sz="1500" spc="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classmates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for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high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scores.</a:t>
            </a:r>
            <a:endParaRPr sz="1500">
              <a:latin typeface="Tahoma"/>
              <a:cs typeface="Tahoma"/>
            </a:endParaRPr>
          </a:p>
          <a:p>
            <a:pPr marL="44450" marR="5080" indent="226695" algn="just">
              <a:lnSpc>
                <a:spcPct val="140000"/>
              </a:lnSpc>
              <a:spcBef>
                <a:spcPts val="520"/>
              </a:spcBef>
              <a:buClr>
                <a:srgbClr val="93A2B8"/>
              </a:buClr>
              <a:buFont typeface="Tahoma"/>
              <a:buAutoNum type="arabicPeriod"/>
              <a:tabLst>
                <a:tab pos="271145" algn="l"/>
              </a:tabLst>
            </a:pPr>
            <a:r>
              <a:rPr sz="1500" b="1" spc="-10" dirty="0">
                <a:solidFill>
                  <a:srgbClr val="16C69A"/>
                </a:solidFill>
                <a:latin typeface="Tahoma"/>
                <a:cs typeface="Tahoma"/>
              </a:rPr>
              <a:t>Prove: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Teachers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need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to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prove</a:t>
            </a:r>
            <a:r>
              <a:rPr sz="1500" spc="-4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themselves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to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sign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in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as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a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teacher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account.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105" dirty="0">
                <a:solidFill>
                  <a:srgbClr val="93A2B8"/>
                </a:solidFill>
                <a:latin typeface="Tahoma"/>
                <a:cs typeface="Tahoma"/>
              </a:rPr>
              <a:t>We</a:t>
            </a:r>
            <a:r>
              <a:rPr sz="1500" spc="-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need</a:t>
            </a:r>
            <a:r>
              <a:rPr sz="1500" spc="-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to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make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93A2B8"/>
                </a:solidFill>
                <a:latin typeface="Tahoma"/>
                <a:cs typeface="Tahoma"/>
              </a:rPr>
              <a:t>a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contract</a:t>
            </a:r>
            <a:r>
              <a:rPr sz="1500" spc="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with</a:t>
            </a:r>
            <a:r>
              <a:rPr sz="1500" spc="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the</a:t>
            </a:r>
            <a:r>
              <a:rPr sz="1500" spc="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education</a:t>
            </a:r>
            <a:r>
              <a:rPr sz="1500" spc="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departments.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394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Engineering</a:t>
            </a:r>
            <a:r>
              <a:rPr spc="-200" dirty="0"/>
              <a:t> </a:t>
            </a:r>
            <a:r>
              <a:rPr spc="-100" dirty="0">
                <a:solidFill>
                  <a:srgbClr val="16C69A"/>
                </a:solidFill>
              </a:rPr>
              <a:t>Journal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0679" y="2776035"/>
            <a:ext cx="8161655" cy="225044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500" b="1" dirty="0">
                <a:solidFill>
                  <a:srgbClr val="16C69A"/>
                </a:solidFill>
                <a:latin typeface="Tahoma"/>
                <a:cs typeface="Tahoma"/>
              </a:rPr>
              <a:t>Key</a:t>
            </a:r>
            <a:r>
              <a:rPr sz="1500" b="1" spc="-8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16C69A"/>
                </a:solidFill>
                <a:latin typeface="Tahoma"/>
                <a:cs typeface="Tahoma"/>
              </a:rPr>
              <a:t>Decisions:</a:t>
            </a:r>
            <a:r>
              <a:rPr sz="1500" b="1" spc="2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spc="105" dirty="0">
                <a:solidFill>
                  <a:srgbClr val="93A2B8"/>
                </a:solidFill>
                <a:latin typeface="Tahoma"/>
                <a:cs typeface="Tahoma"/>
              </a:rPr>
              <a:t>We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chose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a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dynamic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difficulty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manager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over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static</a:t>
            </a:r>
            <a:r>
              <a:rPr sz="1500" spc="-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levels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to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keep</a:t>
            </a:r>
            <a:r>
              <a:rPr sz="1500" spc="-4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students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500" spc="75" dirty="0">
                <a:solidFill>
                  <a:srgbClr val="93A2B8"/>
                </a:solidFill>
                <a:latin typeface="Tahoma"/>
                <a:cs typeface="Tahoma"/>
              </a:rPr>
              <a:t>engaged</a:t>
            </a:r>
            <a:r>
              <a:rPr sz="1500" spc="-5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longer.</a:t>
            </a:r>
            <a:endParaRPr sz="1500">
              <a:latin typeface="Tahoma"/>
              <a:cs typeface="Tahoma"/>
            </a:endParaRPr>
          </a:p>
          <a:p>
            <a:pPr marL="12700" marR="166370">
              <a:lnSpc>
                <a:spcPct val="140000"/>
              </a:lnSpc>
              <a:spcBef>
                <a:spcPts val="665"/>
              </a:spcBef>
            </a:pPr>
            <a:r>
              <a:rPr sz="1500" b="1" dirty="0">
                <a:solidFill>
                  <a:srgbClr val="16C69A"/>
                </a:solidFill>
                <a:latin typeface="Tahoma"/>
                <a:cs typeface="Tahoma"/>
              </a:rPr>
              <a:t>Challenges:</a:t>
            </a:r>
            <a:r>
              <a:rPr sz="1500" b="1" spc="3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Balancing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the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93A2B8"/>
                </a:solidFill>
                <a:latin typeface="Tahoma"/>
                <a:cs typeface="Tahoma"/>
              </a:rPr>
              <a:t>"Hard"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level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95" dirty="0">
                <a:solidFill>
                  <a:srgbClr val="93A2B8"/>
                </a:solidFill>
                <a:latin typeface="Tahoma"/>
                <a:cs typeface="Tahoma"/>
              </a:rPr>
              <a:t>so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it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is</a:t>
            </a:r>
            <a:r>
              <a:rPr sz="1500" spc="-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challenging</a:t>
            </a:r>
            <a:r>
              <a:rPr sz="1500" spc="-1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but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not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impossible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for</a:t>
            </a:r>
            <a:r>
              <a:rPr sz="1500" spc="4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93A2B8"/>
                </a:solidFill>
                <a:latin typeface="Tahoma"/>
                <a:cs typeface="Tahoma"/>
              </a:rPr>
              <a:t>middle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grade</a:t>
            </a:r>
            <a:r>
              <a:rPr sz="1500" spc="-6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students.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500" b="1" spc="-30" dirty="0">
                <a:solidFill>
                  <a:srgbClr val="16C69A"/>
                </a:solidFill>
                <a:latin typeface="Tahoma"/>
                <a:cs typeface="Tahoma"/>
              </a:rPr>
              <a:t>Contribution:</a:t>
            </a:r>
            <a:r>
              <a:rPr sz="1500" b="1" spc="16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Berat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(Backend),</a:t>
            </a:r>
            <a:r>
              <a:rPr sz="1500" spc="9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93A2B8"/>
                </a:solidFill>
                <a:latin typeface="Tahoma"/>
                <a:cs typeface="Tahoma"/>
              </a:rPr>
              <a:t>Yigit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(UI</a:t>
            </a:r>
            <a:r>
              <a:rPr sz="1500" spc="8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Design/Dev),</a:t>
            </a:r>
            <a:r>
              <a:rPr sz="1500" spc="1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Bora/Kerem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(BA),</a:t>
            </a:r>
            <a:r>
              <a:rPr sz="1500" spc="10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Tuna</a:t>
            </a:r>
            <a:r>
              <a:rPr sz="1500" spc="9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(PM).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500" b="1" dirty="0">
                <a:solidFill>
                  <a:srgbClr val="16C69A"/>
                </a:solidFill>
                <a:latin typeface="Tahoma"/>
                <a:cs typeface="Tahoma"/>
              </a:rPr>
              <a:t>Progress: </a:t>
            </a:r>
            <a:r>
              <a:rPr sz="1500" spc="65" dirty="0">
                <a:solidFill>
                  <a:srgbClr val="93A2B8"/>
                </a:solidFill>
                <a:latin typeface="Tahoma"/>
                <a:cs typeface="Tahoma"/>
              </a:rPr>
              <a:t>Completed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100%</a:t>
            </a:r>
            <a:r>
              <a:rPr sz="1500" spc="-1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93A2B8"/>
                </a:solidFill>
                <a:latin typeface="Tahoma"/>
                <a:cs typeface="Tahoma"/>
              </a:rPr>
              <a:t>of</a:t>
            </a:r>
            <a:r>
              <a:rPr sz="1500" spc="-3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93A2B8"/>
                </a:solidFill>
                <a:latin typeface="Tahoma"/>
                <a:cs typeface="Tahoma"/>
              </a:rPr>
              <a:t>planned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features</a:t>
            </a:r>
            <a:r>
              <a:rPr sz="1500" spc="-3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93A2B8"/>
                </a:solidFill>
                <a:latin typeface="Tahoma"/>
                <a:cs typeface="Tahoma"/>
              </a:rPr>
              <a:t>for</a:t>
            </a:r>
            <a:r>
              <a:rPr sz="15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93A2B8"/>
                </a:solidFill>
                <a:latin typeface="Tahoma"/>
                <a:cs typeface="Tahoma"/>
              </a:rPr>
              <a:t>the</a:t>
            </a:r>
            <a:r>
              <a:rPr sz="1500" spc="-2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93A2B8"/>
                </a:solidFill>
                <a:latin typeface="Tahoma"/>
                <a:cs typeface="Tahoma"/>
              </a:rPr>
              <a:t>MVP.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09750" y="2871723"/>
            <a:ext cx="238125" cy="2085975"/>
            <a:chOff x="1809750" y="2871723"/>
            <a:chExt cx="238125" cy="2085975"/>
          </a:xfrm>
        </p:grpSpPr>
        <p:pic>
          <p:nvPicPr>
            <p:cNvPr id="5" name="object 5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9750" y="2871723"/>
              <a:ext cx="190500" cy="200025"/>
            </a:xfrm>
            <a:prstGeom prst="rect">
              <a:avLst/>
            </a:prstGeom>
          </p:spPr>
        </p:pic>
        <p:pic>
          <p:nvPicPr>
            <p:cNvPr id="6" name="object 6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9750" y="3595623"/>
              <a:ext cx="190500" cy="200025"/>
            </a:xfrm>
            <a:prstGeom prst="rect">
              <a:avLst/>
            </a:prstGeom>
          </p:spPr>
        </p:pic>
        <p:pic>
          <p:nvPicPr>
            <p:cNvPr id="7" name="object 7" descr="imag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9750" y="4319523"/>
              <a:ext cx="238125" cy="200025"/>
            </a:xfrm>
            <a:prstGeom prst="rect">
              <a:avLst/>
            </a:prstGeom>
          </p:spPr>
        </p:pic>
        <p:pic>
          <p:nvPicPr>
            <p:cNvPr id="8" name="object 8" descr="imag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9750" y="4786248"/>
              <a:ext cx="190500" cy="1714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75938" y="1695399"/>
            <a:ext cx="40386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90" dirty="0"/>
              <a:t>Questions</a:t>
            </a:r>
            <a:r>
              <a:rPr sz="6000" spc="-305" dirty="0"/>
              <a:t> </a:t>
            </a:r>
            <a:r>
              <a:rPr sz="6000" spc="630" dirty="0"/>
              <a:t>?</a:t>
            </a:r>
            <a:endParaRPr sz="6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algn="ctr">
              <a:lnSpc>
                <a:spcPct val="140000"/>
              </a:lnSpc>
              <a:spcBef>
                <a:spcPts val="100"/>
              </a:spcBef>
            </a:pPr>
            <a:r>
              <a:rPr spc="120" dirty="0"/>
              <a:t>We</a:t>
            </a:r>
            <a:r>
              <a:rPr spc="-35" dirty="0"/>
              <a:t> </a:t>
            </a:r>
            <a:r>
              <a:rPr spc="50" dirty="0"/>
              <a:t>are</a:t>
            </a:r>
            <a:r>
              <a:rPr spc="-25" dirty="0"/>
              <a:t> </a:t>
            </a:r>
            <a:r>
              <a:rPr spc="70" dirty="0"/>
              <a:t>ready</a:t>
            </a:r>
            <a:r>
              <a:rPr spc="-2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80" dirty="0"/>
              <a:t>answer</a:t>
            </a:r>
            <a:r>
              <a:rPr spc="-25" dirty="0"/>
              <a:t> </a:t>
            </a:r>
            <a:r>
              <a:rPr spc="65" dirty="0"/>
              <a:t>your</a:t>
            </a:r>
            <a:r>
              <a:rPr spc="-45" dirty="0"/>
              <a:t> </a:t>
            </a:r>
            <a:r>
              <a:rPr spc="70" dirty="0"/>
              <a:t>questions</a:t>
            </a:r>
            <a:r>
              <a:rPr spc="-40" dirty="0"/>
              <a:t> </a:t>
            </a:r>
            <a:r>
              <a:rPr spc="55" dirty="0"/>
              <a:t>about</a:t>
            </a:r>
            <a:r>
              <a:rPr spc="-20" dirty="0"/>
              <a:t> </a:t>
            </a:r>
            <a:r>
              <a:rPr b="1" spc="-25" dirty="0">
                <a:solidFill>
                  <a:srgbClr val="16C69A"/>
                </a:solidFill>
                <a:latin typeface="Tahoma"/>
                <a:cs typeface="Tahoma"/>
              </a:rPr>
              <a:t>Virtual</a:t>
            </a:r>
            <a:r>
              <a:rPr b="1" spc="-6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b="1" spc="-20" dirty="0">
                <a:solidFill>
                  <a:srgbClr val="16C69A"/>
                </a:solidFill>
                <a:latin typeface="Tahoma"/>
                <a:cs typeface="Tahoma"/>
              </a:rPr>
              <a:t>Math</a:t>
            </a:r>
            <a:r>
              <a:rPr lang="tr-TR" b="1" spc="-20" dirty="0">
                <a:solidFill>
                  <a:srgbClr val="16C69A"/>
                </a:solidFill>
                <a:latin typeface="Tahoma"/>
                <a:cs typeface="Tahoma"/>
              </a:rPr>
              <a:t>s </a:t>
            </a:r>
            <a:r>
              <a:rPr lang="tr-TR" b="1" spc="-20" dirty="0" err="1">
                <a:solidFill>
                  <a:srgbClr val="16C69A"/>
                </a:solidFill>
                <a:latin typeface="Tahoma"/>
                <a:cs typeface="Tahoma"/>
              </a:rPr>
              <a:t>Question</a:t>
            </a:r>
            <a:r>
              <a:rPr b="1" spc="-2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b="1" spc="-10" dirty="0">
                <a:solidFill>
                  <a:srgbClr val="16C69A"/>
                </a:solidFill>
                <a:latin typeface="Tahoma"/>
                <a:cs typeface="Tahoma"/>
              </a:rPr>
              <a:t>Bank</a:t>
            </a:r>
            <a:r>
              <a:rPr spc="-10" dirty="0"/>
              <a:t>.</a:t>
            </a:r>
          </a:p>
          <a:p>
            <a:pPr marL="1905">
              <a:lnSpc>
                <a:spcPct val="100000"/>
              </a:lnSpc>
            </a:pPr>
            <a:endParaRPr spc="-10" dirty="0"/>
          </a:p>
          <a:p>
            <a:pPr marL="1905">
              <a:lnSpc>
                <a:spcPct val="100000"/>
              </a:lnSpc>
              <a:spcBef>
                <a:spcPts val="45"/>
              </a:spcBef>
            </a:pPr>
            <a:endParaRPr spc="-10" dirty="0"/>
          </a:p>
          <a:p>
            <a:pPr marL="45085" algn="ctr">
              <a:lnSpc>
                <a:spcPct val="100000"/>
              </a:lnSpc>
            </a:pPr>
            <a:r>
              <a:rPr sz="1500" b="1" spc="-50" dirty="0">
                <a:solidFill>
                  <a:srgbClr val="16C69A"/>
                </a:solidFill>
                <a:latin typeface="Tahoma"/>
                <a:cs typeface="Tahoma"/>
              </a:rPr>
              <a:t>Berat</a:t>
            </a:r>
            <a:r>
              <a:rPr sz="1500" b="1" spc="-6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16C69A"/>
                </a:solidFill>
                <a:latin typeface="Tahoma"/>
                <a:cs typeface="Tahoma"/>
              </a:rPr>
              <a:t>-</a:t>
            </a:r>
            <a:r>
              <a:rPr sz="1500" b="1" spc="-5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16C69A"/>
                </a:solidFill>
                <a:latin typeface="Tahoma"/>
                <a:cs typeface="Tahoma"/>
              </a:rPr>
              <a:t>Bora</a:t>
            </a:r>
            <a:r>
              <a:rPr sz="1500" b="1" spc="-70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16C69A"/>
                </a:solidFill>
                <a:latin typeface="Tahoma"/>
                <a:cs typeface="Tahoma"/>
              </a:rPr>
              <a:t>-</a:t>
            </a:r>
            <a:r>
              <a:rPr sz="1500" b="1" spc="-5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spc="-25" dirty="0">
                <a:solidFill>
                  <a:srgbClr val="16C69A"/>
                </a:solidFill>
                <a:latin typeface="Tahoma"/>
                <a:cs typeface="Tahoma"/>
              </a:rPr>
              <a:t>Kerem</a:t>
            </a:r>
            <a:r>
              <a:rPr sz="1500" b="1" spc="-6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16C69A"/>
                </a:solidFill>
                <a:latin typeface="Tahoma"/>
                <a:cs typeface="Tahoma"/>
              </a:rPr>
              <a:t>-</a:t>
            </a:r>
            <a:r>
              <a:rPr sz="1500" b="1" spc="-5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6C69A"/>
                </a:solidFill>
                <a:latin typeface="Tahoma"/>
                <a:cs typeface="Tahoma"/>
              </a:rPr>
              <a:t>Tuna</a:t>
            </a:r>
            <a:r>
              <a:rPr sz="1500" b="1" spc="-5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16C69A"/>
                </a:solidFill>
                <a:latin typeface="Tahoma"/>
                <a:cs typeface="Tahoma"/>
              </a:rPr>
              <a:t>-</a:t>
            </a:r>
            <a:r>
              <a:rPr sz="1500" b="1" spc="-55" dirty="0">
                <a:solidFill>
                  <a:srgbClr val="16C69A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6C69A"/>
                </a:solidFill>
                <a:latin typeface="Tahoma"/>
                <a:cs typeface="Tahoma"/>
              </a:rPr>
              <a:t>Yigit</a:t>
            </a:r>
            <a:endParaRPr sz="1500" dirty="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  <a:spcBef>
                <a:spcPts val="1639"/>
              </a:spcBef>
            </a:pPr>
            <a:r>
              <a:rPr sz="1200" dirty="0"/>
              <a:t>Contact:</a:t>
            </a:r>
            <a:r>
              <a:rPr sz="1200" spc="495" dirty="0"/>
              <a:t> </a:t>
            </a:r>
            <a:r>
              <a:rPr sz="1200" spc="-10" dirty="0">
                <a:hlinkClick r:id="rId2"/>
              </a:rPr>
              <a:t>autobotsege@gmail.com</a:t>
            </a:r>
            <a:endParaRPr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105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/>
          <p:nvPr/>
        </p:nvSpPr>
        <p:spPr>
          <a:xfrm>
            <a:off x="4680330" y="536194"/>
            <a:ext cx="338836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125" dirty="0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r>
              <a:rPr sz="39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900" b="1" spc="-10" dirty="0">
                <a:solidFill>
                  <a:srgbClr val="FFFFFF"/>
                </a:solidFill>
                <a:latin typeface="Trebuchet MS"/>
                <a:cs typeface="Trebuchet MS"/>
              </a:rPr>
              <a:t>Sources</a:t>
            </a:r>
            <a:endParaRPr sz="3900">
              <a:latin typeface="Trebuchet MS"/>
              <a:cs typeface="Trebuchet MS"/>
            </a:endParaRPr>
          </a:p>
        </p:txBody>
      </p:sp>
      <p:pic>
        <p:nvPicPr>
          <p:cNvPr id="4" name="object 4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133638"/>
            <a:ext cx="1832229" cy="12218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99105" y="2271395"/>
            <a:ext cx="8487410" cy="796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500"/>
              </a:lnSpc>
              <a:spcBef>
                <a:spcPts val="100"/>
              </a:spcBef>
            </a:pPr>
            <a:r>
              <a:rPr sz="1800" dirty="0">
                <a:solidFill>
                  <a:srgbClr val="93A2B8"/>
                </a:solidFill>
                <a:latin typeface="Tahoma"/>
                <a:cs typeface="Tahoma"/>
                <a:hlinkClick r:id="rId3"/>
              </a:rPr>
              <a:t>https://parenting-</a:t>
            </a:r>
            <a:r>
              <a:rPr sz="1800" spc="80" dirty="0">
                <a:solidFill>
                  <a:srgbClr val="93A2B8"/>
                </a:solidFill>
                <a:latin typeface="Tahoma"/>
                <a:cs typeface="Tahoma"/>
                <a:hlinkClick r:id="rId3"/>
              </a:rPr>
              <a:t>passport.com/wp-</a:t>
            </a:r>
            <a:r>
              <a:rPr sz="1800" spc="65" dirty="0">
                <a:solidFill>
                  <a:srgbClr val="93A2B8"/>
                </a:solidFill>
                <a:latin typeface="Tahoma"/>
                <a:cs typeface="Tahoma"/>
                <a:hlinkClick r:id="rId3"/>
              </a:rPr>
              <a:t>content/uploads/2024/07/image-</a:t>
            </a:r>
            <a:r>
              <a:rPr sz="1800" spc="70" dirty="0">
                <a:solidFill>
                  <a:srgbClr val="93A2B8"/>
                </a:solidFill>
                <a:latin typeface="Tahoma"/>
                <a:cs typeface="Tahoma"/>
                <a:hlinkClick r:id="rId3"/>
              </a:rPr>
              <a:t>86.webp</a:t>
            </a:r>
            <a:r>
              <a:rPr sz="1800" spc="70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93A2B8"/>
                </a:solidFill>
                <a:latin typeface="Tahoma"/>
                <a:cs typeface="Tahoma"/>
              </a:rPr>
              <a:t>Source:</a:t>
            </a:r>
            <a:r>
              <a:rPr sz="1800" spc="-25" dirty="0">
                <a:solidFill>
                  <a:srgbClr val="93A2B8"/>
                </a:solidFill>
                <a:latin typeface="Tahoma"/>
                <a:cs typeface="Tahoma"/>
              </a:rPr>
              <a:t> </a:t>
            </a:r>
            <a:r>
              <a:rPr sz="1800" spc="60" dirty="0">
                <a:solidFill>
                  <a:srgbClr val="4F46E4"/>
                </a:solidFill>
                <a:latin typeface="Tahoma"/>
                <a:cs typeface="Tahoma"/>
              </a:rPr>
              <a:t>parenting-</a:t>
            </a:r>
            <a:r>
              <a:rPr sz="1800" spc="70" dirty="0">
                <a:solidFill>
                  <a:srgbClr val="4F46E4"/>
                </a:solidFill>
                <a:latin typeface="Tahoma"/>
                <a:cs typeface="Tahoma"/>
              </a:rPr>
              <a:t>passport.com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3A2B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565</Words>
  <Application>Microsoft Office PowerPoint</Application>
  <PresentationFormat>Geniş ekran</PresentationFormat>
  <Paragraphs>84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0" baseType="lpstr">
      <vt:lpstr>Arial MT</vt:lpstr>
      <vt:lpstr>Tahoma</vt:lpstr>
      <vt:lpstr>Trebuchet MS</vt:lpstr>
      <vt:lpstr>Verdana</vt:lpstr>
      <vt:lpstr>Office Theme</vt:lpstr>
      <vt:lpstr>Virtual Maths Question Bank</vt:lpstr>
      <vt:lpstr>The Idea and Problem</vt:lpstr>
      <vt:lpstr>Target Users</vt:lpstr>
      <vt:lpstr>Main Features</vt:lpstr>
      <vt:lpstr>What is in Scope?</vt:lpstr>
      <vt:lpstr>Project Plan</vt:lpstr>
      <vt:lpstr>Use Case Diagram</vt:lpstr>
      <vt:lpstr>Activity Diagram</vt:lpstr>
      <vt:lpstr>Class Diagram</vt:lpstr>
      <vt:lpstr>Adaptive Workflow</vt:lpstr>
      <vt:lpstr>Live Demo</vt:lpstr>
      <vt:lpstr>Status and Future</vt:lpstr>
      <vt:lpstr>Engineering Journal</vt:lpstr>
      <vt:lpstr>Questions ?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Tuna Çalışkan</cp:lastModifiedBy>
  <cp:revision>6</cp:revision>
  <dcterms:created xsi:type="dcterms:W3CDTF">2026-05-05T23:16:46Z</dcterms:created>
  <dcterms:modified xsi:type="dcterms:W3CDTF">2026-05-06T00:10:13Z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2026-05-05T00:00:00Z</vt:filetime>
  </property>
  <property fmtid="{D5CDD505-2E9C-101B-9397-08002B2CF9AE}" pid="4" name="Creator">
    <vt:lpwstr>Microsoft® PowerPoint® Microsoft 365 için</vt:lpwstr>
  </property>
  <property fmtid="{D5CDD505-2E9C-101B-9397-08002B2CF9AE}" pid="5" name="LastSaved">
    <vt:filetime>2026-05-05T00:00:00Z</vt:filetime>
  </property>
  <property fmtid="{D5CDD505-2E9C-101B-9397-08002B2CF9AE}" pid="6" name="Producer">
    <vt:lpwstr>Microsoft® PowerPoint® Microsoft 365 için</vt:lpwstr>
  </property>
</Properties>
</file>